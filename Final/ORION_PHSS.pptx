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5F6DDD7-C2AC-B158-2451-529A96420AF6}">
          <p14:sldIdLst>
            <p14:sldId id="256"/>
          </p14:sldIdLst>
        </p14:section>
        <p14:section name="Problem" id="{A4513E79-CA14-5125-22E5-390E40FA9497}">
          <p14:sldIdLst>
            <p14:sldId id="257"/>
          </p14:sldIdLst>
        </p14:section>
        <p14:section name="Design" id="{9A9DEE01-4CAC-A809-3F93-67DAEA7BC9ED}">
          <p14:sldIdLst>
            <p14:sldId id="258"/>
            <p14:sldId id="259"/>
            <p14:sldId id="260"/>
            <p14:sldId id="261"/>
            <p14:sldId id="262"/>
          </p14:sldIdLst>
        </p14:section>
        <p14:section name="Evidence" id="{09A09BA6-18DC-9EB1-D4FE-E7903DC6B883}">
          <p14:sldIdLst>
            <p14:sldId id="263"/>
            <p14:sldId id="264"/>
          </p14:sldIdLst>
        </p14:section>
        <p14:section name="Business and risk" id="{969D28B6-DB9D-D190-EC72-5799E13AC9A0}">
          <p14:sldIdLst>
            <p14:sldId id="265"/>
            <p14:sldId id="266"/>
          </p14:sldIdLst>
        </p14:section>
        <p14:section name="Close" id="{620F3256-10C9-90F9-6014-D6B0C1F23F7E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6397F8-071A-4FF0-BE15-39A09916F6D0}" v="20" dt="2026-10-11T09:34:32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3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modh T" userId="0cdf16f2c3003d8f" providerId="LiveId" clId="{21AB5DE5-7604-4306-91D1-6B3CC1A1D22F}"/>
    <pc:docChg chg="undo custSel modSld">
      <pc:chgData name="Pramodh T" userId="0cdf16f2c3003d8f" providerId="LiveId" clId="{21AB5DE5-7604-4306-91D1-6B3CC1A1D22F}" dt="2026-10-11T09:44:23.763" v="152" actId="20577"/>
      <pc:docMkLst>
        <pc:docMk/>
      </pc:docMkLst>
      <pc:sldChg chg="addSp delSp modSp mod">
        <pc:chgData name="Pramodh T" userId="0cdf16f2c3003d8f" providerId="LiveId" clId="{21AB5DE5-7604-4306-91D1-6B3CC1A1D22F}" dt="2026-10-11T09:26:46.746" v="13" actId="478"/>
        <pc:sldMkLst>
          <pc:docMk/>
          <pc:sldMk cId="0" sldId="256"/>
        </pc:sldMkLst>
        <pc:spChg chg="del">
          <ac:chgData name="Pramodh T" userId="0cdf16f2c3003d8f" providerId="LiveId" clId="{21AB5DE5-7604-4306-91D1-6B3CC1A1D22F}" dt="2026-10-11T09:26:46.746" v="13" actId="478"/>
          <ac:spMkLst>
            <pc:docMk/>
            <pc:sldMk cId="0" sldId="256"/>
            <ac:spMk id="8" creationId="{00000000-0000-0000-0000-000000000000}"/>
          </ac:spMkLst>
        </pc:spChg>
        <pc:picChg chg="del">
          <ac:chgData name="Pramodh T" userId="0cdf16f2c3003d8f" providerId="LiveId" clId="{21AB5DE5-7604-4306-91D1-6B3CC1A1D22F}" dt="2026-10-11T09:26:08.676" v="0" actId="478"/>
          <ac:picMkLst>
            <pc:docMk/>
            <pc:sldMk cId="0" sldId="256"/>
            <ac:picMk id="7" creationId="{00000000-0000-0000-0000-000000000000}"/>
          </ac:picMkLst>
        </pc:picChg>
        <pc:picChg chg="add mod">
          <ac:chgData name="Pramodh T" userId="0cdf16f2c3003d8f" providerId="LiveId" clId="{21AB5DE5-7604-4306-91D1-6B3CC1A1D22F}" dt="2026-10-11T09:26:41.199" v="12" actId="27614"/>
          <ac:picMkLst>
            <pc:docMk/>
            <pc:sldMk cId="0" sldId="256"/>
            <ac:picMk id="10" creationId="{01C2B03C-5E24-0FE3-7BD2-08A757FCF9C6}"/>
          </ac:picMkLst>
        </pc:picChg>
      </pc:sldChg>
      <pc:sldChg chg="modSp mod">
        <pc:chgData name="Pramodh T" userId="0cdf16f2c3003d8f" providerId="LiveId" clId="{21AB5DE5-7604-4306-91D1-6B3CC1A1D22F}" dt="2026-10-11T09:27:19.106" v="16" actId="20577"/>
        <pc:sldMkLst>
          <pc:docMk/>
          <pc:sldMk cId="0" sldId="257"/>
        </pc:sldMkLst>
        <pc:spChg chg="mod">
          <ac:chgData name="Pramodh T" userId="0cdf16f2c3003d8f" providerId="LiveId" clId="{21AB5DE5-7604-4306-91D1-6B3CC1A1D22F}" dt="2026-10-11T09:27:19.106" v="16" actId="20577"/>
          <ac:spMkLst>
            <pc:docMk/>
            <pc:sldMk cId="0" sldId="257"/>
            <ac:spMk id="23" creationId="{00000000-0000-0000-0000-000000000000}"/>
          </ac:spMkLst>
        </pc:spChg>
      </pc:sldChg>
      <pc:sldChg chg="modSp mod">
        <pc:chgData name="Pramodh T" userId="0cdf16f2c3003d8f" providerId="LiveId" clId="{21AB5DE5-7604-4306-91D1-6B3CC1A1D22F}" dt="2026-10-11T09:31:08.868" v="38" actId="20577"/>
        <pc:sldMkLst>
          <pc:docMk/>
          <pc:sldMk cId="0" sldId="258"/>
        </pc:sldMkLst>
        <pc:spChg chg="mod">
          <ac:chgData name="Pramodh T" userId="0cdf16f2c3003d8f" providerId="LiveId" clId="{21AB5DE5-7604-4306-91D1-6B3CC1A1D22F}" dt="2026-10-11T09:31:08.868" v="38" actId="20577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Pramodh T" userId="0cdf16f2c3003d8f" providerId="LiveId" clId="{21AB5DE5-7604-4306-91D1-6B3CC1A1D22F}" dt="2026-10-11T09:38:09.833" v="104" actId="20577"/>
        <pc:sldMkLst>
          <pc:docMk/>
          <pc:sldMk cId="0" sldId="260"/>
        </pc:sldMkLst>
        <pc:spChg chg="mod">
          <ac:chgData name="Pramodh T" userId="0cdf16f2c3003d8f" providerId="LiveId" clId="{21AB5DE5-7604-4306-91D1-6B3CC1A1D22F}" dt="2026-10-11T09:32:30.487" v="45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Pramodh T" userId="0cdf16f2c3003d8f" providerId="LiveId" clId="{21AB5DE5-7604-4306-91D1-6B3CC1A1D22F}" dt="2026-10-11T09:38:09.833" v="104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Pramodh T" userId="0cdf16f2c3003d8f" providerId="LiveId" clId="{21AB5DE5-7604-4306-91D1-6B3CC1A1D22F}" dt="2026-10-11T09:33:40.447" v="63" actId="20577"/>
          <ac:spMkLst>
            <pc:docMk/>
            <pc:sldMk cId="0" sldId="260"/>
            <ac:spMk id="14" creationId="{00000000-0000-0000-0000-000000000000}"/>
          </ac:spMkLst>
        </pc:spChg>
        <pc:graphicFrameChg chg="mod">
          <ac:chgData name="Pramodh T" userId="0cdf16f2c3003d8f" providerId="LiveId" clId="{21AB5DE5-7604-4306-91D1-6B3CC1A1D22F}" dt="2026-10-11T09:34:32.435" v="82" actId="20577"/>
          <ac:graphicFrameMkLst>
            <pc:docMk/>
            <pc:sldMk cId="0" sldId="260"/>
            <ac:graphicFrameMk id="12" creationId="{00000000-0000-0000-0000-000000000000}"/>
          </ac:graphicFrameMkLst>
        </pc:graphicFrameChg>
      </pc:sldChg>
      <pc:sldChg chg="modSp mod">
        <pc:chgData name="Pramodh T" userId="0cdf16f2c3003d8f" providerId="LiveId" clId="{21AB5DE5-7604-4306-91D1-6B3CC1A1D22F}" dt="2026-10-11T09:38:26.145" v="105" actId="20577"/>
        <pc:sldMkLst>
          <pc:docMk/>
          <pc:sldMk cId="0" sldId="261"/>
        </pc:sldMkLst>
        <pc:spChg chg="mod">
          <ac:chgData name="Pramodh T" userId="0cdf16f2c3003d8f" providerId="LiveId" clId="{21AB5DE5-7604-4306-91D1-6B3CC1A1D22F}" dt="2026-10-11T09:38:26.145" v="105" actId="20577"/>
          <ac:spMkLst>
            <pc:docMk/>
            <pc:sldMk cId="0" sldId="261"/>
            <ac:spMk id="14" creationId="{00000000-0000-0000-0000-000000000000}"/>
          </ac:spMkLst>
        </pc:spChg>
      </pc:sldChg>
      <pc:sldChg chg="modSp mod">
        <pc:chgData name="Pramodh T" userId="0cdf16f2c3003d8f" providerId="LiveId" clId="{21AB5DE5-7604-4306-91D1-6B3CC1A1D22F}" dt="2026-10-11T09:44:23.763" v="152" actId="20577"/>
        <pc:sldMkLst>
          <pc:docMk/>
          <pc:sldMk cId="0" sldId="263"/>
        </pc:sldMkLst>
        <pc:spChg chg="mod">
          <ac:chgData name="Pramodh T" userId="0cdf16f2c3003d8f" providerId="LiveId" clId="{21AB5DE5-7604-4306-91D1-6B3CC1A1D22F}" dt="2026-10-11T09:44:23.763" v="152" actId="20577"/>
          <ac:spMkLst>
            <pc:docMk/>
            <pc:sldMk cId="0" sldId="263"/>
            <ac:spMk id="6" creationId="{00000000-0000-0000-0000-000000000000}"/>
          </ac:spMkLst>
        </pc:spChg>
      </pc:sldChg>
      <pc:sldChg chg="modSp mod">
        <pc:chgData name="Pramodh T" userId="0cdf16f2c3003d8f" providerId="LiveId" clId="{21AB5DE5-7604-4306-91D1-6B3CC1A1D22F}" dt="2026-10-11T09:40:46.072" v="118" actId="20577"/>
        <pc:sldMkLst>
          <pc:docMk/>
          <pc:sldMk cId="0" sldId="265"/>
        </pc:sldMkLst>
        <pc:graphicFrameChg chg="modGraphic">
          <ac:chgData name="Pramodh T" userId="0cdf16f2c3003d8f" providerId="LiveId" clId="{21AB5DE5-7604-4306-91D1-6B3CC1A1D22F}" dt="2026-10-11T09:40:46.072" v="118" actId="20577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  <pc:sldChg chg="addSp delSp modSp mod">
        <pc:chgData name="Pramodh T" userId="0cdf16f2c3003d8f" providerId="LiveId" clId="{21AB5DE5-7604-4306-91D1-6B3CC1A1D22F}" dt="2026-10-11T09:41:23.709" v="124" actId="478"/>
        <pc:sldMkLst>
          <pc:docMk/>
          <pc:sldMk cId="0" sldId="268"/>
        </pc:sldMkLst>
        <pc:spChg chg="mod">
          <ac:chgData name="Pramodh T" userId="0cdf16f2c3003d8f" providerId="LiveId" clId="{21AB5DE5-7604-4306-91D1-6B3CC1A1D22F}" dt="2026-10-11T09:41:02.934" v="120" actId="6549"/>
          <ac:spMkLst>
            <pc:docMk/>
            <pc:sldMk cId="0" sldId="268"/>
            <ac:spMk id="2" creationId="{00000000-0000-0000-0000-000000000000}"/>
          </ac:spMkLst>
        </pc:spChg>
        <pc:spChg chg="del">
          <ac:chgData name="Pramodh T" userId="0cdf16f2c3003d8f" providerId="LiveId" clId="{21AB5DE5-7604-4306-91D1-6B3CC1A1D22F}" dt="2026-10-11T09:41:19.934" v="123" actId="478"/>
          <ac:spMkLst>
            <pc:docMk/>
            <pc:sldMk cId="0" sldId="268"/>
            <ac:spMk id="3" creationId="{00000000-0000-0000-0000-000000000000}"/>
          </ac:spMkLst>
        </pc:spChg>
        <pc:spChg chg="del">
          <ac:chgData name="Pramodh T" userId="0cdf16f2c3003d8f" providerId="LiveId" clId="{21AB5DE5-7604-4306-91D1-6B3CC1A1D22F}" dt="2026-10-11T09:41:08.194" v="122" actId="478"/>
          <ac:spMkLst>
            <pc:docMk/>
            <pc:sldMk cId="0" sldId="268"/>
            <ac:spMk id="6" creationId="{00000000-0000-0000-0000-000000000000}"/>
          </ac:spMkLst>
        </pc:spChg>
        <pc:spChg chg="add del mod">
          <ac:chgData name="Pramodh T" userId="0cdf16f2c3003d8f" providerId="LiveId" clId="{21AB5DE5-7604-4306-91D1-6B3CC1A1D22F}" dt="2026-10-11T09:41:23.709" v="124" actId="478"/>
          <ac:spMkLst>
            <pc:docMk/>
            <pc:sldMk cId="0" sldId="268"/>
            <ac:spMk id="9" creationId="{BD97F3A8-61CC-A0CA-A4E8-E7A0346AB47B}"/>
          </ac:spMkLst>
        </pc:spChg>
        <pc:picChg chg="del">
          <ac:chgData name="Pramodh T" userId="0cdf16f2c3003d8f" providerId="LiveId" clId="{21AB5DE5-7604-4306-91D1-6B3CC1A1D22F}" dt="2026-10-11T09:41:06.486" v="121" actId="478"/>
          <ac:picMkLst>
            <pc:docMk/>
            <pc:sldMk cId="0" sldId="268"/>
            <ac:picMk id="7" creationId="{00000000-0000-0000-0000-00000000000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3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0B1F33"/>
                </a:solidFill>
                <a:latin typeface="+mn-lt"/>
              </a:rPr>
              <a:t>Mass budget (kg)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Mass (kg)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3.39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97E-4719-9C3F-8E3AE18A90AE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B1F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Winch, latch, speaker</c:v>
                </c:pt>
                <c:pt idx="1">
                  <c:v>AED payload</c:v>
                </c:pt>
                <c:pt idx="2">
                  <c:v>Airframe and Avionics</c:v>
                </c:pt>
                <c:pt idx="3">
                  <c:v>Motors, ESCs, props</c:v>
                </c:pt>
                <c:pt idx="4">
                  <c:v>Battery 12S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1.76</c:v>
                </c:pt>
                <c:pt idx="1">
                  <c:v>2.5</c:v>
                </c:pt>
                <c:pt idx="2">
                  <c:v>4</c:v>
                </c:pt>
                <c:pt idx="3">
                  <c:v>4.74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7E-4719-9C3F-8E3AE18A90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1F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.5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3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0B1F33"/>
                </a:solidFill>
                <a:latin typeface="+mn-lt"/>
              </a:rPr>
              <a:t>Power vs airspeed (kW)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Electric power (kW)</c:v>
                </c:pt>
              </c:strCache>
            </c:strRef>
          </c:tx>
          <c:spPr>
            <a:ln w="38100" cap="flat">
              <a:solidFill>
                <a:srgbClr val="E63946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1F33"/>
                    </a:solidFill>
                    <a:latin typeface="+mn-lt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30</c:v>
                </c:pt>
                <c:pt idx="2">
                  <c:v>50</c:v>
                </c:pt>
                <c:pt idx="3">
                  <c:v>70</c:v>
                </c:pt>
                <c:pt idx="4">
                  <c:v>80</c:v>
                </c:pt>
                <c:pt idx="5">
                  <c:v>90</c:v>
                </c:pt>
                <c:pt idx="6">
                  <c:v>100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2.14</c:v>
                </c:pt>
                <c:pt idx="1">
                  <c:v>1.75</c:v>
                </c:pt>
                <c:pt idx="2">
                  <c:v>1.56</c:v>
                </c:pt>
                <c:pt idx="3">
                  <c:v>1.67</c:v>
                </c:pt>
                <c:pt idx="4">
                  <c:v>1.84</c:v>
                </c:pt>
                <c:pt idx="5">
                  <c:v>2.08</c:v>
                </c:pt>
                <c:pt idx="6">
                  <c:v>2.4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63-48B5-9A06-4FB754C3FED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B7A"/>
                    </a:solidFill>
                    <a:latin typeface="+mn-lt"/>
                  </a:defRPr>
                </a:pPr>
                <a:r>
                  <a:rPr lang="en-IN" sz="1100" b="0" i="0" u="none" strike="noStrike">
                    <a:solidFill>
                      <a:srgbClr val="5C6B7A"/>
                    </a:solidFill>
                    <a:latin typeface="+mn-lt"/>
                  </a:rPr>
                  <a:t>Airspeed (km/h)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1F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8"/>
          <c:min val="1"/>
        </c:scaling>
        <c:delete val="0"/>
        <c:axPos val="l"/>
        <c:majorGridlines>
          <c:spPr>
            <a:ln w="6350" cap="flat">
              <a:solidFill>
                <a:srgbClr val="D5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1F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3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0B1F33"/>
                </a:solidFill>
                <a:latin typeface="+mn-lt"/>
              </a:rPr>
              <a:t>Mission time vs cruise speed (s)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Mission time (s)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B1F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70 km/h</c:v>
                </c:pt>
                <c:pt idx="1">
                  <c:v>80 km/h</c:v>
                </c:pt>
                <c:pt idx="2">
                  <c:v>90 km/h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318</c:v>
                </c:pt>
                <c:pt idx="1">
                  <c:v>286</c:v>
                </c:pt>
                <c:pt idx="2">
                  <c:v>261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2E-438C-BE20-16293F8247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1F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60"/>
          <c:min val="0"/>
        </c:scaling>
        <c:delete val="0"/>
        <c:axPos val="l"/>
        <c:majorGridlines>
          <c:spPr>
            <a:ln w="6350" cap="flat">
              <a:solidFill>
                <a:srgbClr val="D5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1F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907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[0:00-0:10] Introduce team and the mission: get an AED to a cardiac arrest within 5 minutes across a 5 km radius.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[0:10-0:30] Problem understanding. The five numbers are the brief. The real need is an AED in a bystander's hands in minutes. Assumptions: hot day, rain penalty of 10% power, dock at centre, BVLOS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[0:30-1:00] We compared a quad, a hexacopter and a hybrid VTOL. VTOL wins on cruise energy but adds transition risk and complexity. A hexacopter hovers steadily for the winch, can tolerate a motor loss as a design target, and is realistic in 48 hours. Cruise energy is higher, so we pay in battery, which we can afford within 25 kg.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[1:00-1:30] Pre-validated emergency dispatch. The drone sits armed in a monitored standby so no boot, GNSS lock or preflight is needed after dispatch. Standby power comes from the dock through an ideal-diode power mux, so the battery stays full. When the drone leaves the dock, the battery takes over automatically with no interruption.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[1:30-2:00] Mass budget totals 18.1 kg, well under 25 kg. Six X6 Plus motors give about 3.9 times thrust-to-weight, so hover sits near a quarter throttle and the vehicle keeps margin for gusts and a motor loss. Drag area is an assumption we would refine in CFD.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[2:00-2:25] Sensors feed a Pixhawk-class flight controller, which keeps the safety-critical loops. The Raspberry Pi 5 handles mission logic through the uXRCE-DDS bridge. Note the telemetry band: 900 MHz is not licence-free in India, so we use 865-867 MHz plus a 4G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[2:25-2:55] The mission is a state machine from standby to return. Cruise and winch are the two phases where we spend design effort. Navigation uses RTK and EKF; delivery uses RTK plus LiDAR with swing damping and a load-cell touchdown detect; the Pi 5 supervises while the flight controller keeps an independent watchdog.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[2:55-3:25] Results from our analytical sizing model. Power is lowest around 50 km/h and rises with speed. The key finding: the minimum 70 km/h cruise does not meet 5 minutes once takeoff, descent and 30 s of winching are added, so we cruise at 80 km/h with a dash option to 90. Battery capacity is enough for the round trip with large reserve. Be honest that these are model results with assumed drag area, not flight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[3:25-4:00] Near people: the drone never lands; it stays at 15 m and lowers the AED on a tether, releases on touchdown, and announces itself by voice. Termination is tiered: reroute along low-risk corridors, land at a safe site, and as last resort cut the motors and deploy a parachute with an independent trigger. Parachute sink rate is an assumption to be sized.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[4:00-4:20] Feasibility: all parts are off-the-shelf and the mass and energy close with margin. Cost is about 5.1 lakh rupees excluding the AED, with figures indicative. Scaling: each dock covers about 79 square kilometres, and the payload bay can carry other medical kits.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[4:20-4:40] Main risks and fixes: thin time margin, gusts, rain and link loss, standby power faults. Regulation: under 25 kg is the small category under the Drone Rules 2021, with registration and BVLOS approval needed. Ethics: privacy by design and a human confirms every dispatch.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slide: skip when presenting, keep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[4:40-5:00] Close: the design meets the brief on paper with a hexacopter and zero-preflight standby.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234440"/>
            <a:ext cx="51206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880360"/>
            <a:ext cx="51206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Team 04 PHSS  |  ORION UAV Design Challenge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09728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10312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23444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Rapid-Response Defibrillator Drone</a:t>
            </a:r>
            <a:endParaRPr lang="en-US" sz="3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8803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6"/>
                </a:solidFill>
              </a:rPr>
              <a:t>ORION UAV Design Challenge  |  Senior Track  |  Team 04 PHSS</a:t>
            </a:r>
            <a:endParaRPr lang="en-US" sz="1600" dirty="0"/>
          </a:p>
        </p:txBody>
      </p:sp>
      <p:sp>
        <p:nvSpPr>
          <p:cNvPr id="4" name="Team names"/>
          <p:cNvSpPr txBox="1"/>
          <p:nvPr/>
        </p:nvSpPr>
        <p:spPr>
          <a:xfrm>
            <a:off x="548640" y="3840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Saarang A Nair (Team Leader, CAD)  ·  Harsharaj R (CAD)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Pramodh Bala T  ·  Sonit Nooney</a:t>
            </a:r>
            <a:endParaRPr lang="en-US" sz="1400" dirty="0"/>
          </a:p>
        </p:txBody>
      </p:sp>
      <p:sp>
        <p:nvSpPr>
          <p:cNvPr id="5" name="Date"/>
          <p:cNvSpPr txBox="1"/>
          <p:nvPr/>
        </p:nvSpPr>
        <p:spPr>
          <a:xfrm>
            <a:off x="54864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11 October 2026</a:t>
            </a:r>
            <a:endParaRPr lang="en-US" sz="1200" dirty="0"/>
          </a:p>
        </p:txBody>
      </p:sp>
      <p:sp>
        <p:nvSpPr>
          <p:cNvPr id="6" name="Hero circle"/>
          <p:cNvSpPr/>
          <p:nvPr/>
        </p:nvSpPr>
        <p:spPr>
          <a:xfrm>
            <a:off x="6126480" y="1097280"/>
            <a:ext cx="2468880" cy="2468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Picture 9" descr="teaching: speech.&#10;&#10;AI-generated content may be incorrect.">
            <a:extLst>
              <a:ext uri="{FF2B5EF4-FFF2-40B4-BE49-F238E27FC236}">
                <a16:creationId xmlns:a16="http://schemas.microsoft.com/office/drawing/2014/main" id="{01C2B03C-5E24-0FE3-7BD2-08A757FCF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4823" y="1073218"/>
            <a:ext cx="2512194" cy="25121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Problem and assumptions</a:t>
            </a:r>
            <a:endParaRPr lang="en-US" sz="3000" dirty="0"/>
          </a:p>
        </p:txBody>
      </p:sp>
      <p:sp>
        <p:nvSpPr>
          <p:cNvPr id="3" name="Stat card 1"/>
          <p:cNvSpPr/>
          <p:nvPr/>
        </p:nvSpPr>
        <p:spPr>
          <a:xfrm>
            <a:off x="457200" y="1097280"/>
            <a:ext cx="15544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tat value 1"/>
          <p:cNvSpPr txBox="1"/>
          <p:nvPr/>
        </p:nvSpPr>
        <p:spPr>
          <a:xfrm>
            <a:off x="45720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5 km</a:t>
            </a:r>
            <a:endParaRPr lang="en-US" sz="2400" dirty="0"/>
          </a:p>
        </p:txBody>
      </p:sp>
      <p:sp>
        <p:nvSpPr>
          <p:cNvPr id="5" name="Stat label 1"/>
          <p:cNvSpPr txBox="1"/>
          <p:nvPr/>
        </p:nvSpPr>
        <p:spPr>
          <a:xfrm>
            <a:off x="457200" y="1691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service radius</a:t>
            </a:r>
            <a:endParaRPr lang="en-US" sz="1200" dirty="0"/>
          </a:p>
        </p:txBody>
      </p:sp>
      <p:sp>
        <p:nvSpPr>
          <p:cNvPr id="6" name="Stat card 2"/>
          <p:cNvSpPr/>
          <p:nvPr/>
        </p:nvSpPr>
        <p:spPr>
          <a:xfrm>
            <a:off x="2125980" y="1097280"/>
            <a:ext cx="15544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tat value 2"/>
          <p:cNvSpPr txBox="1"/>
          <p:nvPr/>
        </p:nvSpPr>
        <p:spPr>
          <a:xfrm>
            <a:off x="212598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5 min</a:t>
            </a:r>
            <a:endParaRPr lang="en-US" sz="2400" dirty="0"/>
          </a:p>
        </p:txBody>
      </p:sp>
      <p:sp>
        <p:nvSpPr>
          <p:cNvPr id="8" name="Stat label 2"/>
          <p:cNvSpPr txBox="1"/>
          <p:nvPr/>
        </p:nvSpPr>
        <p:spPr>
          <a:xfrm>
            <a:off x="2125980" y="1691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to reach and deliver</a:t>
            </a:r>
            <a:endParaRPr lang="en-US" sz="1200" dirty="0"/>
          </a:p>
        </p:txBody>
      </p:sp>
      <p:sp>
        <p:nvSpPr>
          <p:cNvPr id="9" name="Stat card 3"/>
          <p:cNvSpPr/>
          <p:nvPr/>
        </p:nvSpPr>
        <p:spPr>
          <a:xfrm>
            <a:off x="3794760" y="1097280"/>
            <a:ext cx="15544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tat value 3"/>
          <p:cNvSpPr txBox="1"/>
          <p:nvPr/>
        </p:nvSpPr>
        <p:spPr>
          <a:xfrm>
            <a:off x="379476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2.5 kg</a:t>
            </a:r>
            <a:endParaRPr lang="en-US" sz="2400" dirty="0"/>
          </a:p>
        </p:txBody>
      </p:sp>
      <p:sp>
        <p:nvSpPr>
          <p:cNvPr id="11" name="Stat label 3"/>
          <p:cNvSpPr txBox="1"/>
          <p:nvPr/>
        </p:nvSpPr>
        <p:spPr>
          <a:xfrm>
            <a:off x="3794760" y="1691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AED payload</a:t>
            </a:r>
            <a:endParaRPr lang="en-US" sz="1200" dirty="0"/>
          </a:p>
        </p:txBody>
      </p:sp>
      <p:sp>
        <p:nvSpPr>
          <p:cNvPr id="12" name="Stat card 4"/>
          <p:cNvSpPr/>
          <p:nvPr/>
        </p:nvSpPr>
        <p:spPr>
          <a:xfrm>
            <a:off x="5463540" y="1097280"/>
            <a:ext cx="15544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tat value 4"/>
          <p:cNvSpPr txBox="1"/>
          <p:nvPr/>
        </p:nvSpPr>
        <p:spPr>
          <a:xfrm>
            <a:off x="546354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≥70 km/h</a:t>
            </a:r>
            <a:endParaRPr lang="en-US" sz="2400" dirty="0"/>
          </a:p>
        </p:txBody>
      </p:sp>
      <p:sp>
        <p:nvSpPr>
          <p:cNvPr id="14" name="Stat label 4"/>
          <p:cNvSpPr txBox="1"/>
          <p:nvPr/>
        </p:nvSpPr>
        <p:spPr>
          <a:xfrm>
            <a:off x="5463540" y="1691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cruise speed</a:t>
            </a:r>
            <a:endParaRPr lang="en-US" sz="1200" dirty="0"/>
          </a:p>
        </p:txBody>
      </p:sp>
      <p:sp>
        <p:nvSpPr>
          <p:cNvPr id="15" name="Stat card 5"/>
          <p:cNvSpPr/>
          <p:nvPr/>
        </p:nvSpPr>
        <p:spPr>
          <a:xfrm>
            <a:off x="7132320" y="1097280"/>
            <a:ext cx="15544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tat value 5"/>
          <p:cNvSpPr txBox="1"/>
          <p:nvPr/>
        </p:nvSpPr>
        <p:spPr>
          <a:xfrm>
            <a:off x="713232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&lt;25 kg</a:t>
            </a:r>
            <a:endParaRPr lang="en-US" sz="2400" dirty="0"/>
          </a:p>
        </p:txBody>
      </p:sp>
      <p:sp>
        <p:nvSpPr>
          <p:cNvPr id="17" name="Stat label 5"/>
          <p:cNvSpPr txBox="1"/>
          <p:nvPr/>
        </p:nvSpPr>
        <p:spPr>
          <a:xfrm>
            <a:off x="7132320" y="1691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takeoff weight</a:t>
            </a:r>
            <a:endParaRPr lang="en-US" sz="1200" dirty="0"/>
          </a:p>
        </p:txBody>
      </p:sp>
      <p:sp>
        <p:nvSpPr>
          <p:cNvPr id="18" name="Need card"/>
          <p:cNvSpPr/>
          <p:nvPr/>
        </p:nvSpPr>
        <p:spPr>
          <a:xfrm>
            <a:off x="457200" y="2377440"/>
            <a:ext cx="40233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Need heading"/>
          <p:cNvSpPr txBox="1"/>
          <p:nvPr/>
        </p:nvSpPr>
        <p:spPr>
          <a:xfrm>
            <a:off x="640080" y="2487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real need</a:t>
            </a:r>
            <a:endParaRPr lang="en-US" sz="1800" dirty="0"/>
          </a:p>
        </p:txBody>
      </p:sp>
      <p:sp>
        <p:nvSpPr>
          <p:cNvPr id="20" name="Need bullets"/>
          <p:cNvSpPr txBox="1"/>
          <p:nvPr/>
        </p:nvSpPr>
        <p:spPr>
          <a:xfrm>
            <a:off x="640080" y="288036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Survival falls roughly 7-10% for each minute without defibrillation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bystander must use the AED with voice guidance, no training needed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Flying straight over traffic: 5 km takes about 4 min at 80 km/h</a:t>
            </a:r>
            <a:endParaRPr lang="en-US" sz="1400" dirty="0"/>
          </a:p>
        </p:txBody>
      </p:sp>
      <p:sp>
        <p:nvSpPr>
          <p:cNvPr id="21" name="Assumptions card"/>
          <p:cNvSpPr/>
          <p:nvPr/>
        </p:nvSpPr>
        <p:spPr>
          <a:xfrm>
            <a:off x="4663440" y="2377440"/>
            <a:ext cx="40233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Assumptions heading"/>
          <p:cNvSpPr txBox="1"/>
          <p:nvPr/>
        </p:nvSpPr>
        <p:spPr>
          <a:xfrm>
            <a:off x="4846320" y="2487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Assumptions</a:t>
            </a:r>
            <a:endParaRPr lang="en-US" sz="1800" dirty="0"/>
          </a:p>
        </p:txBody>
      </p:sp>
      <p:sp>
        <p:nvSpPr>
          <p:cNvPr id="23" name="Assumptions bullets"/>
          <p:cNvSpPr txBox="1"/>
          <p:nvPr/>
        </p:nvSpPr>
        <p:spPr>
          <a:xfrm>
            <a:off x="4846320" y="288036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Hot day (air density 1.225 kg/m³), rain, no wind in baseline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Dock at the centre of the area; one-way 5 km, then return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BVLOS flights approved by DGCA; AED and case total 2.5 kg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Concept selection: why a hexacopter</a:t>
            </a:r>
            <a:endParaRPr lang="en-US" sz="3000" dirty="0"/>
          </a:p>
        </p:txBody>
      </p:sp>
      <p:graphicFrame>
        <p:nvGraphicFramePr>
          <p:cNvPr id="4" name="Concept trade-off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52374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Hexacopter (selected)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Quadcopter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6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Hybrid VTOL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6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</a:rPr>
                        <a:t>Hover and winch precision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High: 6 rotors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Medium: wing gusts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</a:rPr>
                        <a:t>Motor-out tolerance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Design target: survives 1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Partial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</a:rPr>
                        <a:t>Cruise energy per km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Higher (about 23 Wh/km)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Higher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Lowest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</a:rPr>
                        <a:t>Design and control risk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Low: one flight mode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High: transition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</a:rPr>
                        <a:t>Launch from a small dock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Pad only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Pad only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Pad plus transition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akeaway card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akeaway text"/>
          <p:cNvSpPr txBox="1"/>
          <p:nvPr/>
        </p:nvSpPr>
        <p:spPr>
          <a:xfrm>
            <a:off x="640080" y="3931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5 min target is won by speed and a zero-preflight standby, not by wings. </a:t>
            </a:r>
            <a:r>
              <a:rPr lang="en-US" sz="1400" dirty="0">
                <a:solidFill>
                  <a:schemeClr val="tx1"/>
                </a:solidFill>
              </a:rPr>
              <a:t>A hexacopter gives maneuverability and hover safety over people and redundancy, and a simpler build within 48 hours.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Ready Standby and seamless power transition</a:t>
            </a:r>
            <a:endParaRPr lang="en-US" sz="3000" dirty="0"/>
          </a:p>
        </p:txBody>
      </p:sp>
      <p:sp>
        <p:nvSpPr>
          <p:cNvPr id="3" name="Ground station box"/>
          <p:cNvSpPr/>
          <p:nvPr/>
        </p:nvSpPr>
        <p:spPr>
          <a:xfrm>
            <a:off x="457200" y="1143000"/>
            <a:ext cx="2011680" cy="868680"/>
          </a:xfrm>
          <a:prstGeom prst="roundRect">
            <a:avLst>
              <a:gd name="adj" fmla="val 842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Ground station box text"/>
          <p:cNvSpPr txBox="1"/>
          <p:nvPr/>
        </p:nvSpPr>
        <p:spPr>
          <a:xfrm>
            <a:off x="548640" y="11430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Ground station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Dispatch with coordinates</a:t>
            </a:r>
            <a:endParaRPr lang="en-US" sz="1400" dirty="0"/>
          </a:p>
        </p:txBody>
      </p:sp>
      <p:sp>
        <p:nvSpPr>
          <p:cNvPr id="5" name="Dock supply box"/>
          <p:cNvSpPr/>
          <p:nvPr/>
        </p:nvSpPr>
        <p:spPr>
          <a:xfrm>
            <a:off x="457200" y="2743200"/>
            <a:ext cx="201168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Dock supply box text"/>
          <p:cNvSpPr txBox="1"/>
          <p:nvPr/>
        </p:nvSpPr>
        <p:spPr>
          <a:xfrm>
            <a:off x="548640" y="2743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Dock supply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Constant 50.4 V, always on</a:t>
            </a:r>
            <a:endParaRPr lang="en-US" sz="1400" dirty="0"/>
          </a:p>
        </p:txBody>
      </p:sp>
      <p:sp>
        <p:nvSpPr>
          <p:cNvPr id="7" name="Power mux box"/>
          <p:cNvSpPr/>
          <p:nvPr/>
        </p:nvSpPr>
        <p:spPr>
          <a:xfrm>
            <a:off x="3200400" y="2743200"/>
            <a:ext cx="210312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Power mux box text"/>
          <p:cNvSpPr txBox="1"/>
          <p:nvPr/>
        </p:nvSpPr>
        <p:spPr>
          <a:xfrm>
            <a:off x="3291840" y="27432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Power multiplexer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Ideal-diode OR-ing, no reverse current</a:t>
            </a:r>
            <a:endParaRPr lang="en-US" sz="1400" dirty="0"/>
          </a:p>
        </p:txBody>
      </p:sp>
      <p:sp>
        <p:nvSpPr>
          <p:cNvPr id="9" name="Battery box"/>
          <p:cNvSpPr/>
          <p:nvPr/>
        </p:nvSpPr>
        <p:spPr>
          <a:xfrm>
            <a:off x="3200400" y="3749040"/>
            <a:ext cx="210312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Battery box text"/>
          <p:cNvSpPr txBox="1"/>
          <p:nvPr/>
        </p:nvSpPr>
        <p:spPr>
          <a:xfrm>
            <a:off x="3291840" y="3749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12S battery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Stays full, unloaded</a:t>
            </a:r>
            <a:endParaRPr lang="en-US" sz="1400" dirty="0"/>
          </a:p>
        </p:txBody>
      </p:sp>
      <p:sp>
        <p:nvSpPr>
          <p:cNvPr id="11" name="Load bus box"/>
          <p:cNvSpPr/>
          <p:nvPr/>
        </p:nvSpPr>
        <p:spPr>
          <a:xfrm>
            <a:off x="6035040" y="274320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Load bus box text"/>
          <p:cNvSpPr txBox="1"/>
          <p:nvPr/>
        </p:nvSpPr>
        <p:spPr>
          <a:xfrm>
            <a:off x="6126480" y="27432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Avionics + ESC bus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FC, Pi 5, radio live; hold-up cap</a:t>
            </a:r>
            <a:endParaRPr lang="en-US" sz="1400" dirty="0"/>
          </a:p>
        </p:txBody>
      </p:sp>
      <p:sp>
        <p:nvSpPr>
          <p:cNvPr id="13" name="Drone standby box"/>
          <p:cNvSpPr/>
          <p:nvPr/>
        </p:nvSpPr>
        <p:spPr>
          <a:xfrm>
            <a:off x="3200400" y="1143000"/>
            <a:ext cx="210312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Drone standby box text"/>
          <p:cNvSpPr txBox="1"/>
          <p:nvPr/>
        </p:nvSpPr>
        <p:spPr>
          <a:xfrm>
            <a:off x="3291840" y="11430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Drone: armed standby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GNSS lock, EKF converged</a:t>
            </a:r>
            <a:endParaRPr lang="en-US" sz="1400" dirty="0"/>
          </a:p>
        </p:txBody>
      </p:sp>
      <p:sp>
        <p:nvSpPr>
          <p:cNvPr id="15" name="Arrow dock to mux"/>
          <p:cNvSpPr/>
          <p:nvPr/>
        </p:nvSpPr>
        <p:spPr>
          <a:xfrm>
            <a:off x="2468880" y="3177540"/>
            <a:ext cx="7315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Arrow battery to mux"/>
          <p:cNvSpPr/>
          <p:nvPr/>
        </p:nvSpPr>
        <p:spPr>
          <a:xfrm flipV="1">
            <a:off x="4251960" y="3611880"/>
            <a:ext cx="0" cy="13716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Arrow mux to bus"/>
          <p:cNvSpPr/>
          <p:nvPr/>
        </p:nvSpPr>
        <p:spPr>
          <a:xfrm>
            <a:off x="5303520" y="3177540"/>
            <a:ext cx="7315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Arrow dispatch to drone"/>
          <p:cNvSpPr/>
          <p:nvPr/>
        </p:nvSpPr>
        <p:spPr>
          <a:xfrm>
            <a:off x="2468880" y="1577340"/>
            <a:ext cx="7315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Benefit card"/>
          <p:cNvSpPr/>
          <p:nvPr/>
        </p:nvSpPr>
        <p:spPr>
          <a:xfrm>
            <a:off x="6035040" y="114300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Benefit text"/>
          <p:cNvSpPr txBox="1"/>
          <p:nvPr/>
        </p:nvSpPr>
        <p:spPr>
          <a:xfrm>
            <a:off x="6172200" y="1216152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Dispatch to takeoff in seconds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boot, no GNSS search, no preflight checks. Flight energy is not spent on standby.</a:t>
            </a:r>
            <a:endParaRPr lang="en-US" sz="1400" dirty="0"/>
          </a:p>
        </p:txBody>
      </p:sp>
      <p:sp>
        <p:nvSpPr>
          <p:cNvPr id="21" name="Docked caption"/>
          <p:cNvSpPr txBox="1"/>
          <p:nvPr/>
        </p:nvSpPr>
        <p:spPr>
          <a:xfrm>
            <a:off x="457200" y="3794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Docked: loads run from the dock. On release the battery takes over with no dropout; a hold-up capacitor bridges the switch-over for the flight controller and Pi 5.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Aerodynamic and structural sizing</a:t>
            </a:r>
            <a:endParaRPr lang="en-US" sz="3000" dirty="0"/>
          </a:p>
        </p:txBody>
      </p:sp>
      <p:sp>
        <p:nvSpPr>
          <p:cNvPr id="3" name="Sizing card 1"/>
          <p:cNvSpPr/>
          <p:nvPr/>
        </p:nvSpPr>
        <p:spPr>
          <a:xfrm>
            <a:off x="457200" y="1097280"/>
            <a:ext cx="228600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izing value 1"/>
          <p:cNvSpPr txBox="1"/>
          <p:nvPr/>
        </p:nvSpPr>
        <p:spPr>
          <a:xfrm>
            <a:off x="457200" y="11704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16.17 kg</a:t>
            </a:r>
            <a:endParaRPr lang="en-US" sz="2400" dirty="0"/>
          </a:p>
        </p:txBody>
      </p:sp>
      <p:sp>
        <p:nvSpPr>
          <p:cNvPr id="5" name="Sizing label 1"/>
          <p:cNvSpPr txBox="1"/>
          <p:nvPr/>
        </p:nvSpPr>
        <p:spPr>
          <a:xfrm>
            <a:off x="457200" y="15910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takeoff weight</a:t>
            </a:r>
            <a:endParaRPr lang="en-US" sz="1200" dirty="0"/>
          </a:p>
        </p:txBody>
      </p:sp>
      <p:sp>
        <p:nvSpPr>
          <p:cNvPr id="6" name="Sizing card 2"/>
          <p:cNvSpPr/>
          <p:nvPr/>
        </p:nvSpPr>
        <p:spPr>
          <a:xfrm>
            <a:off x="457200" y="2011680"/>
            <a:ext cx="228600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izing value 2"/>
          <p:cNvSpPr txBox="1"/>
          <p:nvPr/>
        </p:nvSpPr>
        <p:spPr>
          <a:xfrm>
            <a:off x="457200" y="20848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4.43 : 1</a:t>
            </a:r>
            <a:endParaRPr lang="en-US" sz="2400" dirty="0"/>
          </a:p>
        </p:txBody>
      </p:sp>
      <p:sp>
        <p:nvSpPr>
          <p:cNvPr id="8" name="Sizing label 2"/>
          <p:cNvSpPr txBox="1"/>
          <p:nvPr/>
        </p:nvSpPr>
        <p:spPr>
          <a:xfrm>
            <a:off x="457200" y="25054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max thrust-to-weight</a:t>
            </a:r>
            <a:endParaRPr lang="en-US" sz="1200" dirty="0"/>
          </a:p>
        </p:txBody>
      </p:sp>
      <p:sp>
        <p:nvSpPr>
          <p:cNvPr id="9" name="Sizing card 3"/>
          <p:cNvSpPr/>
          <p:nvPr/>
        </p:nvSpPr>
        <p:spPr>
          <a:xfrm>
            <a:off x="457200" y="2926080"/>
            <a:ext cx="228600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izing value 3"/>
          <p:cNvSpPr txBox="1"/>
          <p:nvPr/>
        </p:nvSpPr>
        <p:spPr>
          <a:xfrm>
            <a:off x="457200" y="29992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2.1 kW</a:t>
            </a:r>
            <a:endParaRPr lang="en-US" sz="2400" dirty="0"/>
          </a:p>
        </p:txBody>
      </p:sp>
      <p:sp>
        <p:nvSpPr>
          <p:cNvPr id="11" name="Sizing label 3"/>
          <p:cNvSpPr txBox="1"/>
          <p:nvPr/>
        </p:nvSpPr>
        <p:spPr>
          <a:xfrm>
            <a:off x="457200" y="34198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hover power (electric)</a:t>
            </a:r>
            <a:endParaRPr lang="en-US" sz="1200" dirty="0"/>
          </a:p>
        </p:txBody>
      </p:sp>
      <p:graphicFrame>
        <p:nvGraphicFramePr>
          <p:cNvPr id="12" name="Chart 0"/>
          <p:cNvGraphicFramePr/>
          <p:nvPr>
            <p:extLst>
              <p:ext uri="{D42A27DB-BD31-4B8C-83A1-F6EECF244321}">
                <p14:modId xmlns:p14="http://schemas.microsoft.com/office/powerpoint/2010/main" val="2022049681"/>
              </p:ext>
            </p:extLst>
          </p:nvPr>
        </p:nvGraphicFramePr>
        <p:xfrm>
          <a:off x="3017520" y="1051560"/>
          <a:ext cx="56692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Aero card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Aero bullets"/>
          <p:cNvSpPr txBox="1"/>
          <p:nvPr/>
        </p:nvSpPr>
        <p:spPr>
          <a:xfrm>
            <a:off x="640080" y="390448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Six X6 Plus (24 inch props, IPX6): 3 kg per axis, 25% throttle in hover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Faired body tilts only 8° at 80 km/h; 30 mm carbon-tube arms; sealed avionics bay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Avionics architecture</a:t>
            </a:r>
            <a:endParaRPr lang="en-US" sz="3000" dirty="0"/>
          </a:p>
        </p:txBody>
      </p:sp>
      <p:sp>
        <p:nvSpPr>
          <p:cNvPr id="3" name="Avionics column 1"/>
          <p:cNvSpPr/>
          <p:nvPr/>
        </p:nvSpPr>
        <p:spPr>
          <a:xfrm>
            <a:off x="457200" y="1097280"/>
            <a:ext cx="2560320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Column header 1"/>
          <p:cNvSpPr/>
          <p:nvPr/>
        </p:nvSpPr>
        <p:spPr>
          <a:xfrm>
            <a:off x="594360" y="1207008"/>
            <a:ext cx="2286000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Column title 1"/>
          <p:cNvSpPr txBox="1"/>
          <p:nvPr/>
        </p:nvSpPr>
        <p:spPr>
          <a:xfrm>
            <a:off x="59436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Sensors</a:t>
            </a:r>
            <a:endParaRPr lang="en-US" sz="1600" dirty="0"/>
          </a:p>
        </p:txBody>
      </p:sp>
      <p:sp>
        <p:nvSpPr>
          <p:cNvPr id="6" name="Column items 1"/>
          <p:cNvSpPr txBox="1"/>
          <p:nvPr/>
        </p:nvSpPr>
        <p:spPr>
          <a:xfrm>
            <a:off x="640080" y="173736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Dual-antenna RTK GNSS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LiDAR altimeter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Optical flow camera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Load cell on tether</a:t>
            </a:r>
            <a:endParaRPr lang="en-US" sz="1400" dirty="0"/>
          </a:p>
        </p:txBody>
      </p:sp>
      <p:sp>
        <p:nvSpPr>
          <p:cNvPr id="7" name="Avionics column 2"/>
          <p:cNvSpPr/>
          <p:nvPr/>
        </p:nvSpPr>
        <p:spPr>
          <a:xfrm>
            <a:off x="3291840" y="1097280"/>
            <a:ext cx="2560320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Column header 2"/>
          <p:cNvSpPr/>
          <p:nvPr/>
        </p:nvSpPr>
        <p:spPr>
          <a:xfrm>
            <a:off x="3429000" y="1207008"/>
            <a:ext cx="2286000" cy="36576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Column title 2"/>
          <p:cNvSpPr txBox="1"/>
          <p:nvPr/>
        </p:nvSpPr>
        <p:spPr>
          <a:xfrm>
            <a:off x="342900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Compute</a:t>
            </a:r>
            <a:endParaRPr lang="en-US" sz="1600" dirty="0"/>
          </a:p>
        </p:txBody>
      </p:sp>
      <p:sp>
        <p:nvSpPr>
          <p:cNvPr id="10" name="Column items 2"/>
          <p:cNvSpPr txBox="1"/>
          <p:nvPr/>
        </p:nvSpPr>
        <p:spPr>
          <a:xfrm>
            <a:off x="3474720" y="173736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Pixhawk-standard FC (PX4)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Raspberry Pi 5 companion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uXRCE-DDS bridge</a:t>
            </a:r>
            <a:endParaRPr lang="en-US" sz="1400" dirty="0"/>
          </a:p>
        </p:txBody>
      </p:sp>
      <p:sp>
        <p:nvSpPr>
          <p:cNvPr id="11" name="Avionics column 3"/>
          <p:cNvSpPr/>
          <p:nvPr/>
        </p:nvSpPr>
        <p:spPr>
          <a:xfrm>
            <a:off x="6126480" y="1097280"/>
            <a:ext cx="2560320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Column header 3"/>
          <p:cNvSpPr/>
          <p:nvPr/>
        </p:nvSpPr>
        <p:spPr>
          <a:xfrm>
            <a:off x="6263640" y="1207008"/>
            <a:ext cx="228600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Column title 3"/>
          <p:cNvSpPr txBox="1"/>
          <p:nvPr/>
        </p:nvSpPr>
        <p:spPr>
          <a:xfrm>
            <a:off x="626364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Actuators</a:t>
            </a:r>
            <a:endParaRPr lang="en-US" sz="1600" dirty="0"/>
          </a:p>
        </p:txBody>
      </p:sp>
      <p:sp>
        <p:nvSpPr>
          <p:cNvPr id="14" name="Column items 3"/>
          <p:cNvSpPr txBox="1"/>
          <p:nvPr/>
        </p:nvSpPr>
        <p:spPr>
          <a:xfrm>
            <a:off x="6309360" y="173736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 ESCs (CAN)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Winch controller / relay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Electronic release latch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Voice: MP3 + speaker</a:t>
            </a:r>
            <a:endParaRPr lang="en-US" sz="1400" dirty="0"/>
          </a:p>
        </p:txBody>
      </p:sp>
      <p:sp>
        <p:nvSpPr>
          <p:cNvPr id="15" name="Arrow sensors to compute"/>
          <p:cNvSpPr/>
          <p:nvPr/>
        </p:nvSpPr>
        <p:spPr>
          <a:xfrm>
            <a:off x="3017520" y="23774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Arrow compute to actuators"/>
          <p:cNvSpPr/>
          <p:nvPr/>
        </p:nvSpPr>
        <p:spPr>
          <a:xfrm>
            <a:off x="5852160" y="23774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Comms card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Comms text"/>
          <p:cNvSpPr txBox="1"/>
          <p:nvPr/>
        </p:nvSpPr>
        <p:spPr>
          <a:xfrm>
            <a:off x="640080" y="3886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Link: </a:t>
            </a:r>
            <a:r>
              <a:rPr lang="en-US" sz="1400" dirty="0">
                <a:solidFill>
                  <a:schemeClr val="tx1"/>
                </a:solidFill>
              </a:rPr>
              <a:t>865-867 MHz telemetry (licence-free in India, not 900 MHz) plus 4G backup; loss of both triggers autonomous return.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Software and algorithm design</a:t>
            </a:r>
            <a:endParaRPr lang="en-US" sz="3000" dirty="0"/>
          </a:p>
        </p:txBody>
      </p:sp>
      <p:sp>
        <p:nvSpPr>
          <p:cNvPr id="3" name="State STANDBY"/>
          <p:cNvSpPr/>
          <p:nvPr/>
        </p:nvSpPr>
        <p:spPr>
          <a:xfrm>
            <a:off x="457200" y="1143000"/>
            <a:ext cx="1115568" cy="594360"/>
          </a:xfrm>
          <a:prstGeom prst="chevron">
            <a:avLst/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State label STANDBY"/>
          <p:cNvSpPr txBox="1"/>
          <p:nvPr/>
        </p:nvSpPr>
        <p:spPr>
          <a:xfrm>
            <a:off x="457200" y="1143000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STANDBY</a:t>
            </a:r>
            <a:endParaRPr lang="en-US" sz="1000" dirty="0"/>
          </a:p>
        </p:txBody>
      </p:sp>
      <p:sp>
        <p:nvSpPr>
          <p:cNvPr id="5" name="State DISPATCH"/>
          <p:cNvSpPr/>
          <p:nvPr/>
        </p:nvSpPr>
        <p:spPr>
          <a:xfrm>
            <a:off x="1481328" y="1143000"/>
            <a:ext cx="1115568" cy="594360"/>
          </a:xfrm>
          <a:prstGeom prst="chevron">
            <a:avLst/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State label DISPATCH"/>
          <p:cNvSpPr txBox="1"/>
          <p:nvPr/>
        </p:nvSpPr>
        <p:spPr>
          <a:xfrm>
            <a:off x="1481328" y="1143000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DISPATCH</a:t>
            </a:r>
            <a:endParaRPr lang="en-US" sz="1000" dirty="0"/>
          </a:p>
        </p:txBody>
      </p:sp>
      <p:sp>
        <p:nvSpPr>
          <p:cNvPr id="7" name="State CLIMB"/>
          <p:cNvSpPr/>
          <p:nvPr/>
        </p:nvSpPr>
        <p:spPr>
          <a:xfrm>
            <a:off x="2505456" y="1143000"/>
            <a:ext cx="1115568" cy="594360"/>
          </a:xfrm>
          <a:prstGeom prst="chevron">
            <a:avLst/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State label CLIMB"/>
          <p:cNvSpPr txBox="1"/>
          <p:nvPr/>
        </p:nvSpPr>
        <p:spPr>
          <a:xfrm>
            <a:off x="2505456" y="1143000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CLIMB</a:t>
            </a:r>
            <a:endParaRPr lang="en-US" sz="1000" dirty="0"/>
          </a:p>
        </p:txBody>
      </p:sp>
      <p:sp>
        <p:nvSpPr>
          <p:cNvPr id="9" name="State CRUISE"/>
          <p:cNvSpPr/>
          <p:nvPr/>
        </p:nvSpPr>
        <p:spPr>
          <a:xfrm>
            <a:off x="3529584" y="1143000"/>
            <a:ext cx="1115568" cy="5943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State label CRUISE"/>
          <p:cNvSpPr txBox="1"/>
          <p:nvPr/>
        </p:nvSpPr>
        <p:spPr>
          <a:xfrm>
            <a:off x="3529584" y="1143000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CRUISE</a:t>
            </a:r>
            <a:endParaRPr lang="en-US" sz="1000" dirty="0"/>
          </a:p>
        </p:txBody>
      </p:sp>
      <p:sp>
        <p:nvSpPr>
          <p:cNvPr id="11" name="State DESCEND"/>
          <p:cNvSpPr/>
          <p:nvPr/>
        </p:nvSpPr>
        <p:spPr>
          <a:xfrm>
            <a:off x="4553712" y="1143000"/>
            <a:ext cx="1115568" cy="594360"/>
          </a:xfrm>
          <a:prstGeom prst="chevron">
            <a:avLst/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State label DESCEND"/>
          <p:cNvSpPr txBox="1"/>
          <p:nvPr/>
        </p:nvSpPr>
        <p:spPr>
          <a:xfrm>
            <a:off x="4553712" y="1143000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DESCEND</a:t>
            </a:r>
            <a:endParaRPr lang="en-US" sz="1000" dirty="0"/>
          </a:p>
        </p:txBody>
      </p:sp>
      <p:sp>
        <p:nvSpPr>
          <p:cNvPr id="13" name="State WINCH"/>
          <p:cNvSpPr/>
          <p:nvPr/>
        </p:nvSpPr>
        <p:spPr>
          <a:xfrm>
            <a:off x="5577840" y="1143000"/>
            <a:ext cx="1115568" cy="5943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State label WINCH"/>
          <p:cNvSpPr txBox="1"/>
          <p:nvPr/>
        </p:nvSpPr>
        <p:spPr>
          <a:xfrm>
            <a:off x="5577840" y="1143000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WINCH</a:t>
            </a:r>
            <a:endParaRPr lang="en-US" sz="1000" dirty="0"/>
          </a:p>
        </p:txBody>
      </p:sp>
      <p:sp>
        <p:nvSpPr>
          <p:cNvPr id="15" name="State RELEASE"/>
          <p:cNvSpPr/>
          <p:nvPr/>
        </p:nvSpPr>
        <p:spPr>
          <a:xfrm>
            <a:off x="6601968" y="1143000"/>
            <a:ext cx="1115568" cy="594360"/>
          </a:xfrm>
          <a:prstGeom prst="chevron">
            <a:avLst/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State label RELEASE"/>
          <p:cNvSpPr txBox="1"/>
          <p:nvPr/>
        </p:nvSpPr>
        <p:spPr>
          <a:xfrm>
            <a:off x="6601968" y="1143000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RELEASE</a:t>
            </a:r>
            <a:endParaRPr lang="en-US" sz="1000" dirty="0"/>
          </a:p>
        </p:txBody>
      </p:sp>
      <p:sp>
        <p:nvSpPr>
          <p:cNvPr id="17" name="State RETURN"/>
          <p:cNvSpPr/>
          <p:nvPr/>
        </p:nvSpPr>
        <p:spPr>
          <a:xfrm>
            <a:off x="7626096" y="1143000"/>
            <a:ext cx="1115568" cy="594360"/>
          </a:xfrm>
          <a:prstGeom prst="chevron">
            <a:avLst/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State label RETURN"/>
          <p:cNvSpPr txBox="1"/>
          <p:nvPr/>
        </p:nvSpPr>
        <p:spPr>
          <a:xfrm>
            <a:off x="7626096" y="1143000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RETURN</a:t>
            </a:r>
            <a:endParaRPr lang="en-US" sz="1000" dirty="0"/>
          </a:p>
        </p:txBody>
      </p:sp>
      <p:sp>
        <p:nvSpPr>
          <p:cNvPr id="19" name="Software card 1"/>
          <p:cNvSpPr/>
          <p:nvPr/>
        </p:nvSpPr>
        <p:spPr>
          <a:xfrm>
            <a:off x="457200" y="205740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oftware heading 1"/>
          <p:cNvSpPr txBox="1"/>
          <p:nvPr/>
        </p:nvSpPr>
        <p:spPr>
          <a:xfrm>
            <a:off x="64008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Navigate</a:t>
            </a:r>
            <a:endParaRPr lang="en-US" sz="1800" dirty="0"/>
          </a:p>
        </p:txBody>
      </p:sp>
      <p:sp>
        <p:nvSpPr>
          <p:cNvPr id="21" name="Software text 1"/>
          <p:cNvSpPr txBox="1"/>
          <p:nvPr/>
        </p:nvSpPr>
        <p:spPr>
          <a:xfrm>
            <a:off x="640080" y="265176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RTK + EKF fusion; geofenced low-risk corridor; speed command trades time against energy</a:t>
            </a:r>
            <a:endParaRPr lang="en-US" sz="1400" dirty="0"/>
          </a:p>
        </p:txBody>
      </p:sp>
      <p:sp>
        <p:nvSpPr>
          <p:cNvPr id="22" name="Software card 2"/>
          <p:cNvSpPr/>
          <p:nvPr/>
        </p:nvSpPr>
        <p:spPr>
          <a:xfrm>
            <a:off x="3291840" y="205740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oftware heading 2"/>
          <p:cNvSpPr txBox="1"/>
          <p:nvPr/>
        </p:nvSpPr>
        <p:spPr>
          <a:xfrm>
            <a:off x="347472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Deliver</a:t>
            </a:r>
            <a:endParaRPr lang="en-US" sz="1800" dirty="0"/>
          </a:p>
        </p:txBody>
      </p:sp>
      <p:sp>
        <p:nvSpPr>
          <p:cNvPr id="24" name="Software text 2"/>
          <p:cNvSpPr txBox="1"/>
          <p:nvPr/>
        </p:nvSpPr>
        <p:spPr>
          <a:xfrm>
            <a:off x="3474720" y="265176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Hover within 0.5 m using RTK and LiDAR; damp tether swing; load-cell slack opens the latch</a:t>
            </a:r>
            <a:endParaRPr lang="en-US" sz="1400" dirty="0"/>
          </a:p>
        </p:txBody>
      </p:sp>
      <p:sp>
        <p:nvSpPr>
          <p:cNvPr id="25" name="Software card 3"/>
          <p:cNvSpPr/>
          <p:nvPr/>
        </p:nvSpPr>
        <p:spPr>
          <a:xfrm>
            <a:off x="6126480" y="205740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oftware heading 3"/>
          <p:cNvSpPr txBox="1"/>
          <p:nvPr/>
        </p:nvSpPr>
        <p:spPr>
          <a:xfrm>
            <a:off x="630936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Supervise</a:t>
            </a:r>
            <a:endParaRPr lang="en-US" sz="1800" dirty="0"/>
          </a:p>
        </p:txBody>
      </p:sp>
      <p:sp>
        <p:nvSpPr>
          <p:cNvPr id="27" name="Software text 3"/>
          <p:cNvSpPr txBox="1"/>
          <p:nvPr/>
        </p:nvSpPr>
        <p:spPr>
          <a:xfrm>
            <a:off x="6309360" y="265176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Pi 5 monitors link, battery and motors; FC watchdog runs independently and can end the flight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Analysis results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51560"/>
          <a:ext cx="402336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663440" y="1051560"/>
          <a:ext cx="402336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Results card"/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Results bullets"/>
          <p:cNvSpPr txBox="1"/>
          <p:nvPr/>
        </p:nvSpPr>
        <p:spPr>
          <a:xfrm>
            <a:off x="640080" y="3730752"/>
            <a:ext cx="7863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At 70 km/h the flight takes 5 min 18 s, so we cruise at 80 km/h: 4 min 46 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Energy: 225.1 Wh out + 84.5 Hover + 195 Wh back vs 117 Wh usable (18.8% reserve)</a:t>
            </a:r>
            <a:endParaRPr lang="en-US" sz="1400" dirty="0"/>
          </a:p>
        </p:txBody>
      </p:sp>
      <p:sp>
        <p:nvSpPr>
          <p:cNvPr id="7" name="Method caption"/>
          <p:cNvSpPr txBox="1"/>
          <p:nvPr/>
        </p:nvSpPr>
        <p:spPr>
          <a:xfrm>
            <a:off x="457200" y="45079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Momentum-theory model in Python: density 1.15, figure of merit 0.65, motor+ESC 85%, drag area 0.09 m² (assumed), +10% rain. Not CFD or flight data.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Safe delivery and termination</a:t>
            </a:r>
            <a:endParaRPr lang="en-US" sz="3000" dirty="0"/>
          </a:p>
        </p:txBody>
      </p:sp>
      <p:sp>
        <p:nvSpPr>
          <p:cNvPr id="3" name="Delivery card"/>
          <p:cNvSpPr/>
          <p:nvPr/>
        </p:nvSpPr>
        <p:spPr>
          <a:xfrm>
            <a:off x="45720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Delivery circle"/>
          <p:cNvSpPr/>
          <p:nvPr/>
        </p:nvSpPr>
        <p:spPr>
          <a:xfrm>
            <a:off x="640080" y="120700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Delivery icon" descr="Delive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325880"/>
            <a:ext cx="219456" cy="219456"/>
          </a:xfrm>
          <a:prstGeom prst="rect">
            <a:avLst/>
          </a:prstGeom>
        </p:spPr>
      </p:pic>
      <p:sp>
        <p:nvSpPr>
          <p:cNvPr id="6" name="Delivery heading"/>
          <p:cNvSpPr txBox="1"/>
          <p:nvPr/>
        </p:nvSpPr>
        <p:spPr>
          <a:xfrm>
            <a:off x="1234440" y="12070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Near people</a:t>
            </a:r>
            <a:endParaRPr lang="en-US" sz="1800" dirty="0"/>
          </a:p>
        </p:txBody>
      </p:sp>
      <p:sp>
        <p:nvSpPr>
          <p:cNvPr id="7" name="Delivery bullets"/>
          <p:cNvSpPr txBox="1"/>
          <p:nvPr/>
        </p:nvSpPr>
        <p:spPr>
          <a:xfrm>
            <a:off x="640080" y="182880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Drone holds at 15 m; AED lowered on a tether at about 0.5 m/s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RTK hover keeps the drop inside the 5 m x 5 m zone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Load cell senses touchdown, then latch releases; weak link frees a snag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Voice and siren announce the descent; operator confirms the zone is clear</a:t>
            </a:r>
            <a:endParaRPr lang="en-US" sz="1400" dirty="0"/>
          </a:p>
        </p:txBody>
      </p:sp>
      <p:sp>
        <p:nvSpPr>
          <p:cNvPr id="8" name="Termination card"/>
          <p:cNvSpPr/>
          <p:nvPr/>
        </p:nvSpPr>
        <p:spPr>
          <a:xfrm>
            <a:off x="466344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rmination circle"/>
          <p:cNvSpPr/>
          <p:nvPr/>
        </p:nvSpPr>
        <p:spPr>
          <a:xfrm>
            <a:off x="4846320" y="12070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Termination icon" descr="Termin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325880"/>
            <a:ext cx="219456" cy="219456"/>
          </a:xfrm>
          <a:prstGeom prst="rect">
            <a:avLst/>
          </a:prstGeom>
        </p:spPr>
      </p:pic>
      <p:sp>
        <p:nvSpPr>
          <p:cNvPr id="11" name="Termination heading"/>
          <p:cNvSpPr txBox="1"/>
          <p:nvPr/>
        </p:nvSpPr>
        <p:spPr>
          <a:xfrm>
            <a:off x="5440680" y="12070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Termination over crowds</a:t>
            </a:r>
            <a:endParaRPr lang="en-US" sz="1800" dirty="0"/>
          </a:p>
        </p:txBody>
      </p:sp>
      <p:sp>
        <p:nvSpPr>
          <p:cNvPr id="12" name="Tier card 1"/>
          <p:cNvSpPr/>
          <p:nvPr/>
        </p:nvSpPr>
        <p:spPr>
          <a:xfrm>
            <a:off x="4846320" y="1828800"/>
            <a:ext cx="3657600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ier number circle 1"/>
          <p:cNvSpPr/>
          <p:nvPr/>
        </p:nvSpPr>
        <p:spPr>
          <a:xfrm>
            <a:off x="4937760" y="20116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ier number 1"/>
          <p:cNvSpPr txBox="1"/>
          <p:nvPr/>
        </p:nvSpPr>
        <p:spPr>
          <a:xfrm>
            <a:off x="493776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5" name="Tier text 1"/>
          <p:cNvSpPr txBox="1"/>
          <p:nvPr/>
        </p:nvSpPr>
        <p:spPr>
          <a:xfrm>
            <a:off x="5486400" y="1828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Reroute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Corridor over roads and water</a:t>
            </a:r>
            <a:endParaRPr lang="en-US" sz="1600" dirty="0"/>
          </a:p>
        </p:txBody>
      </p:sp>
      <p:sp>
        <p:nvSpPr>
          <p:cNvPr id="16" name="Tier card 2"/>
          <p:cNvSpPr/>
          <p:nvPr/>
        </p:nvSpPr>
        <p:spPr>
          <a:xfrm>
            <a:off x="4846320" y="2724912"/>
            <a:ext cx="3657600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ier number circle 2"/>
          <p:cNvSpPr/>
          <p:nvPr/>
        </p:nvSpPr>
        <p:spPr>
          <a:xfrm>
            <a:off x="4937760" y="290779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ier number 2"/>
          <p:cNvSpPr txBox="1"/>
          <p:nvPr/>
        </p:nvSpPr>
        <p:spPr>
          <a:xfrm>
            <a:off x="4937760" y="2907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ier text 2"/>
          <p:cNvSpPr txBox="1"/>
          <p:nvPr/>
        </p:nvSpPr>
        <p:spPr>
          <a:xfrm>
            <a:off x="5486400" y="272491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Land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Nearest pre-mapped safe site</a:t>
            </a:r>
            <a:endParaRPr lang="en-US" sz="1600" dirty="0"/>
          </a:p>
        </p:txBody>
      </p:sp>
      <p:sp>
        <p:nvSpPr>
          <p:cNvPr id="20" name="Tier card 3"/>
          <p:cNvSpPr/>
          <p:nvPr/>
        </p:nvSpPr>
        <p:spPr>
          <a:xfrm>
            <a:off x="4846320" y="3621024"/>
            <a:ext cx="3657600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ier number circle 3"/>
          <p:cNvSpPr/>
          <p:nvPr/>
        </p:nvSpPr>
        <p:spPr>
          <a:xfrm>
            <a:off x="4937760" y="3803904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ier number 3"/>
          <p:cNvSpPr txBox="1"/>
          <p:nvPr/>
        </p:nvSpPr>
        <p:spPr>
          <a:xfrm>
            <a:off x="4937760" y="3803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ier text 3"/>
          <p:cNvSpPr txBox="1"/>
          <p:nvPr/>
        </p:nvSpPr>
        <p:spPr>
          <a:xfrm>
            <a:off x="5486400" y="362102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Parachute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Motors cut, independent trigger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Feasibility, scalability and cost</a:t>
            </a:r>
            <a:endParaRPr lang="en-US" sz="3000" dirty="0"/>
          </a:p>
        </p:txBody>
      </p:sp>
      <p:graphicFrame>
        <p:nvGraphicFramePr>
          <p:cNvPr id="11" name="Cos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615477"/>
              </p:ext>
            </p:extLst>
          </p:nvPr>
        </p:nvGraphicFramePr>
        <p:xfrm>
          <a:off x="457200" y="1097280"/>
          <a:ext cx="4206240" cy="2962656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INR (k)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Propulsion: 6 x X6 Plus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95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FC, dual RTK GNSS, Pi 5, sensors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126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Radio and 4G link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Winch, latch, voice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59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Battery and frame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105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Dock and power mux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90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Wiring and misc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 (excl. AED)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510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Cost caption"/>
          <p:cNvSpPr txBox="1"/>
          <p:nvPr/>
        </p:nvSpPr>
        <p:spPr>
          <a:xfrm>
            <a:off x="457200" y="43159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Indicative estimates; supplier quotes pending.</a:t>
            </a:r>
            <a:endParaRPr lang="en-US" sz="1000" dirty="0"/>
          </a:p>
        </p:txBody>
      </p:sp>
      <p:sp>
        <p:nvSpPr>
          <p:cNvPr id="5" name="Scale card"/>
          <p:cNvSpPr/>
          <p:nvPr/>
        </p:nvSpPr>
        <p:spPr>
          <a:xfrm>
            <a:off x="4937760" y="1097280"/>
            <a:ext cx="374904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cale heading"/>
          <p:cNvSpPr txBox="1"/>
          <p:nvPr/>
        </p:nvSpPr>
        <p:spPr>
          <a:xfrm>
            <a:off x="5120640" y="12070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Scaling up</a:t>
            </a:r>
            <a:endParaRPr lang="en-US" sz="1800" dirty="0"/>
          </a:p>
        </p:txBody>
      </p:sp>
      <p:sp>
        <p:nvSpPr>
          <p:cNvPr id="7" name="Scale bullets"/>
          <p:cNvSpPr txBox="1"/>
          <p:nvPr/>
        </p:nvSpPr>
        <p:spPr>
          <a:xfrm>
            <a:off x="5120640" y="169164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dock covers about 79 km²; add docks as a grid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Off-the-shelf parts, carbon tubes, bolt-together frame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Payload bay is swappable: other medical kits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Hybrid VTOL is the upgrade for 10 km and beyond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Risks, regulation and ethics</a:t>
            </a:r>
            <a:endParaRPr lang="en-US" sz="3000" dirty="0"/>
          </a:p>
        </p:txBody>
      </p:sp>
      <p:graphicFrame>
        <p:nvGraphicFramePr>
          <p:cNvPr id="12" name="Ri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206240" cy="28346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6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6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</a:rPr>
                        <a:t>5 min margin is thin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Cruise 80 km/h, dash 90; standby cuts launch delay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</a:rPr>
                        <a:t>Gusts on the tether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RTK hover, swing damping, wind limit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</a:rPr>
                        <a:t>Rain and link loss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IPX6 propulsion, sealed bay, 4G backup, auto return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</a:rPr>
                        <a:t>Standby power fault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Dock health checks; battery check before dispatch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gulation card"/>
          <p:cNvSpPr/>
          <p:nvPr/>
        </p:nvSpPr>
        <p:spPr>
          <a:xfrm>
            <a:off x="4937760" y="1097280"/>
            <a:ext cx="374904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Regulation circle"/>
          <p:cNvSpPr/>
          <p:nvPr/>
        </p:nvSpPr>
        <p:spPr>
          <a:xfrm>
            <a:off x="5120640" y="120700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Regulation icon" descr="Regul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512" y="1325880"/>
            <a:ext cx="219456" cy="219456"/>
          </a:xfrm>
          <a:prstGeom prst="rect">
            <a:avLst/>
          </a:prstGeom>
        </p:spPr>
      </p:pic>
      <p:sp>
        <p:nvSpPr>
          <p:cNvPr id="7" name="Regulation heading"/>
          <p:cNvSpPr txBox="1"/>
          <p:nvPr/>
        </p:nvSpPr>
        <p:spPr>
          <a:xfrm>
            <a:off x="5715000" y="12070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Regulation and ethics</a:t>
            </a:r>
            <a:endParaRPr lang="en-US" sz="1800" dirty="0"/>
          </a:p>
        </p:txBody>
      </p:sp>
      <p:sp>
        <p:nvSpPr>
          <p:cNvPr id="8" name="Regulation bullets"/>
          <p:cNvSpPr txBox="1"/>
          <p:nvPr/>
        </p:nvSpPr>
        <p:spPr>
          <a:xfrm>
            <a:off x="5120640" y="182880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Drone Rules 2021: small category (2-25 kg); Digital Sky registration, no-permission-no-takeoff, geofence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BVLOS approval needed before real use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camera recording; minimal data kept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Operator confirms every dispatch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References</a:t>
            </a:r>
            <a:endParaRPr lang="en-US" sz="3000" dirty="0"/>
          </a:p>
        </p:txBody>
      </p:sp>
      <p:sp>
        <p:nvSpPr>
          <p:cNvPr id="3" name="Reference list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1. Hobbywing, XRotor X6 Plus datasheet: hobbywing.com/en/products/xrotor-x6-plus269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2. Leishman, J.G., Principles of Helicopter Aerodynamics, 2nd ed., Cambridge Univ. Press, 2006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3. PX4 Autopilot User Guide, uXRCE-DDS bridge: docs.px4.io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4. ArduPilot docs, Hobbywing DroneCAN ESC: ardupilot.org/copter/docs/common-hobbywing-dronecan-esc.html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5. Ministry of Civil Aviation, India, Drone Rules, 2021 (as amended)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6. American Heart Association, resuscitation guidelines (time to defibrillation)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7. Team PHSS sizing script (momentum theory), included in the submission package</a:t>
            </a:r>
            <a:endParaRPr lang="en-US" sz="1400" dirty="0"/>
          </a:p>
        </p:txBody>
      </p:sp>
      <p:sp>
        <p:nvSpPr>
          <p:cNvPr id="4" name="Disclosure card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Disclosure text"/>
          <p:cNvSpPr txBox="1"/>
          <p:nvPr/>
        </p:nvSpPr>
        <p:spPr>
          <a:xfrm>
            <a:off x="640080" y="39319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All numbers are analytical estimates, not flight-tested. AI assistance used for drafting and the sizing script; declared in Annexure C.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0972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you.</a:t>
            </a:r>
            <a:endParaRPr lang="en-US" sz="4400" dirty="0"/>
          </a:p>
        </p:txBody>
      </p:sp>
      <p:sp>
        <p:nvSpPr>
          <p:cNvPr id="4" name="Team label"/>
          <p:cNvSpPr txBox="1"/>
          <p:nvPr/>
        </p:nvSpPr>
        <p:spPr>
          <a:xfrm>
            <a:off x="54864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Team 04 PHSS</a:t>
            </a:r>
            <a:endParaRPr lang="en-US" sz="2000" dirty="0"/>
          </a:p>
        </p:txBody>
      </p:sp>
      <p:sp>
        <p:nvSpPr>
          <p:cNvPr id="5" name="Team members"/>
          <p:cNvSpPr txBox="1"/>
          <p:nvPr/>
        </p:nvSpPr>
        <p:spPr>
          <a:xfrm>
            <a:off x="548640" y="3611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Saarang A Nair  ·  Harsharaj 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Pramodh Bala T  ·  Sonit Nooney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ION PHSS Rescue">
  <a:themeElements>
    <a:clrScheme name="ORION PHSS Rescue">
      <a:dk1>
        <a:srgbClr val="0B1F33"/>
      </a:dk1>
      <a:lt1>
        <a:srgbClr val="FFFFFF"/>
      </a:lt1>
      <a:dk2>
        <a:srgbClr val="16405F"/>
      </a:dk2>
      <a:lt2>
        <a:srgbClr val="EEF3F8"/>
      </a:lt2>
      <a:accent1>
        <a:srgbClr val="E63946"/>
      </a:accent1>
      <a:accent2>
        <a:srgbClr val="1F7A8C"/>
      </a:accent2>
      <a:accent3>
        <a:srgbClr val="F4A261"/>
      </a:accent3>
      <a:accent4>
        <a:srgbClr val="2A9D8F"/>
      </a:accent4>
      <a:accent5>
        <a:srgbClr val="5C6B7A"/>
      </a:accent5>
      <a:accent6>
        <a:srgbClr val="8FB8DE"/>
      </a:accent6>
      <a:hlink>
        <a:srgbClr val="1F7A8C"/>
      </a:hlink>
      <a:folHlink>
        <a:srgbClr val="5C6B7A"/>
      </a:folHlink>
    </a:clrScheme>
    <a:fontScheme name="ORION PHSS Resc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1842</Words>
  <Application>Microsoft Office PowerPoint</Application>
  <PresentationFormat>On-screen Show (16:9)</PresentationFormat>
  <Paragraphs>221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ORION PHSS Rescue</vt:lpstr>
      <vt:lpstr>Rapid-Response Defibrillator Drone</vt:lpstr>
      <vt:lpstr>Problem and assumptions</vt:lpstr>
      <vt:lpstr>Concept selection: why a hexacopter</vt:lpstr>
      <vt:lpstr>Ready Standby and seamless power transition</vt:lpstr>
      <vt:lpstr>Aerodynamic and structural sizing</vt:lpstr>
      <vt:lpstr>Avionics architecture</vt:lpstr>
      <vt:lpstr>Software and algorithm design</vt:lpstr>
      <vt:lpstr>Analysis results</vt:lpstr>
      <vt:lpstr>Safe delivery and termination</vt:lpstr>
      <vt:lpstr>Feasibility, scalability and cost</vt:lpstr>
      <vt:lpstr>Risks, regulation and ethics</vt:lpstr>
      <vt:lpstr>References</vt:lpstr>
      <vt:lpstr>Thank you.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Rapid-Response Defibrillator Drone - Team 04 PHSS</dc:title>
  <dc:subject>PptxGenJS Presentation</dc:subject>
  <dc:creator>Team 04 PHSS</dc:creator>
  <cp:lastModifiedBy>Pramodh T</cp:lastModifiedBy>
  <cp:revision>1</cp:revision>
  <dcterms:created xsi:type="dcterms:W3CDTF">2026-10-11T09:18:50Z</dcterms:created>
  <dcterms:modified xsi:type="dcterms:W3CDTF">2026-10-11T09:44:32Z</dcterms:modified>
</cp:coreProperties>
</file>